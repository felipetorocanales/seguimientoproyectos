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9448495" cy="429768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0"/>
              </a:spcBef>
              <a:defRPr sz="1600" b="1">
                <a:solidFill>
                  <a:srgbClr val="38BDF8"/>
                </a:solidFill>
              </a:defRPr>
            </a:pPr>
            <a:r>
              <a:t>NEXUS TRACKER</a:t>
            </a:r>
          </a:p>
          <a:p>
            <a:pPr algn="ctr">
              <a:spcBef>
                <a:spcPts val="1000"/>
              </a:spcBef>
              <a:defRPr sz="3200" b="1">
                <a:solidFill>
                  <a:srgbClr val="F8FAFC"/>
                </a:solidFill>
              </a:defRPr>
            </a:pPr>
            <a:r>
              <a:t>Capacitación Nuevas Funcionalidades</a:t>
            </a:r>
          </a:p>
          <a:p>
            <a:pPr algn="ctr">
              <a:spcBef>
                <a:spcPts val="1200"/>
              </a:spcBef>
              <a:defRPr sz="1500">
                <a:solidFill>
                  <a:srgbClr val="94A3B8"/>
                </a:solidFill>
              </a:defRPr>
            </a:pPr>
            <a:r>
              <a:t>Gestión de Pausas de Proyectos, Extensión Inteligente y Visión Flexible en Cronogramas</a:t>
            </a:r>
          </a:p>
          <a:p>
            <a:pPr algn="ctr">
              <a:spcBef>
                <a:spcPts val="4000"/>
              </a:spcBef>
              <a:defRPr sz="1200">
                <a:solidFill>
                  <a:srgbClr val="60A5FA"/>
                </a:solidFill>
              </a:defRPr>
            </a:pPr>
            <a:r>
              <a:t>Experis Chile · Sistema de Seguimiento Estratégico · Versión Producción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48640"/>
            <a:ext cx="2560320" cy="320040"/>
          </a:xfrm>
          <a:prstGeom prst="roundRect">
            <a:avLst/>
          </a:prstGeom>
          <a:solidFill>
            <a:srgbClr val="0C1F4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AGENDA DE CAPACITACIÓN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¿Qué aprenderemos hoy?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Resumen estructurado de las herramientas incorporadas a la plataforma.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5029200" cy="173736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1. Sistema de Pausas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Mecanismo oficial para pausar y reactivar proyectos con fecha retroactiva o actual y justificación obligatoria.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029200" cy="173736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2. Extensión Dinámica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Cómo se suman los días de pausa al plazo final protegiendo la meta de entrega original inmutable.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06240"/>
            <a:ext cx="5029200" cy="173736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3. Trazabilidad Automática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Registro automático en la bitácora de comentarios y alertas en Telegram en tiempo real.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06240"/>
            <a:ext cx="5029200" cy="173736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4. Cronograma Semanas / Meses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Nueva visión mensual y semanal tanto a nivel global como individual por cada proyecto.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48640"/>
            <a:ext cx="2560320" cy="320040"/>
          </a:xfrm>
          <a:prstGeom prst="roundRect">
            <a:avLst/>
          </a:prstGeom>
          <a:solidFill>
            <a:srgbClr val="0C1F4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MÓDULO DE PAUSAS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Pausar y Reanudar Proyectos de Forma Controlada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Detiene el conteo del tiempo hábil sin alterar las métricas de avance de los desarrolladores.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5029200" cy="4114800"/>
          </a:xfrm>
          <a:prstGeom prst="roundRect">
            <a:avLst/>
          </a:prstGeom>
          <a:solidFill>
            <a:srgbClr val="0C1F4B"/>
          </a:solidFill>
          <a:ln>
            <a:solidFill>
              <a:srgbClr val="1E4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9E0B"/>
                </a:solidFill>
              </a:defRPr>
            </a:pPr>
            <a:r>
              <a:t>⏸️ ¿Cómo Funciona la Pausa?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Botón 'Pausar' disponible en la tarjeta de cada proyecto para Líderes y Administradores.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Fecha de inicio de pausa flexible: Propone el día de hoy por defecto pero permite seleccionar una fecha anterior si la pausa comenzó antes.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Motivo Obligatorio: Es mandatorio ingresar la causa (ej: 'En espera de accesos', 'Revisión cliente', 'Aprobación presupuestaria').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Estado Visual Inmediato: El proyecto adopta la etiqueta '⏸️ En Pausa (+Xd)' y se refleja en los filtros.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029200" cy="4114800"/>
          </a:xfrm>
          <a:prstGeom prst="roundRect">
            <a:avLst/>
          </a:prstGeom>
          <a:solidFill>
            <a:srgbClr val="0C1F4B"/>
          </a:solidFill>
          <a:ln>
            <a:solidFill>
              <a:srgbClr val="1E4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0B981"/>
                </a:solidFill>
              </a:defRPr>
            </a:pPr>
            <a:r>
              <a:t>▶️ Reanudación y Cierre de Pausa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El botón conmuta a '▶️ Reanudar': Un solo clic reincorpora el proyecto al flujo activo.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Cálculo exacto de días transcurridos: Determina con precisión los días que estuvo pausado y cierra el intervalo.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Historial Completo: Cada proyecto conserva un historial de todas sus pausas con fechas exactas y motivos.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Pausas Múltiples: Un proyecto puede pausarse y reanudarse varias veces; todos los días se totalizan automáticamente.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48640"/>
            <a:ext cx="2560320" cy="320040"/>
          </a:xfrm>
          <a:prstGeom prst="roundRect">
            <a:avLst/>
          </a:prstGeom>
          <a:solidFill>
            <a:srgbClr val="0C1F4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LÓGICA DE FECHAS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Extensión Dinámica de la Fecha de Entrega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Garantía de que las pausas por terceros no impacten negativamente la evaluación del equipo.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3291840" cy="393192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1. Meta Inicial Inmutable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La fecha de compromiso original (ej: 03/02/2027) jamás se pierde. Queda protegida y visible como 'Meta Inicial' con candado de auditoría.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103120"/>
            <a:ext cx="3291840" cy="393192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2. Suma Día tras Día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Mientras el proyecto esté en pausa, el sistema suma los días correspondientes a la fecha de entrega final, aplazándola en tiempo real.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103120"/>
            <a:ext cx="3291840" cy="393192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3. Desfase Justificado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Al reanudar, la nueva fecha de entrega queda formalmente consolidada sumando los días efectivos de retraso justificado.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48640"/>
            <a:ext cx="2560320" cy="320040"/>
          </a:xfrm>
          <a:prstGeom prst="roundRect">
            <a:avLst/>
          </a:prstGeom>
          <a:solidFill>
            <a:srgbClr val="0C1F4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EXPERIENCIA VISUAL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Diseño Suave y Amigable del Cronograma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Alineado con el feedback del equipo: eliminar sensaciones de alarma innecesarias.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5029200" cy="4114800"/>
          </a:xfrm>
          <a:prstGeom prst="roundRect">
            <a:avLst/>
          </a:prstGeom>
          <a:solidFill>
            <a:srgbClr val="0C1F4B"/>
          </a:solidFill>
          <a:ln>
            <a:solidFill>
              <a:srgbClr val="1E4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🎨 Tono Suave de Días Aplazados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Antes: Franjas naranjas/amarillas brillantes de advertencia que causaban alerta visual excesiva.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Ahora: Estilo translúcido elegante en cian y azul noche con borde punteado suave.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Indicador discreto: Píldora compacta '⏳ +Xd (DD/MM/AAAA)' integrada con armonía en la barra del proyecto.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Línea de Compromiso Inicial: Delgada marca luminosa que señala con claridad dónde terminaba la meta original.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029200" cy="4114800"/>
          </a:xfrm>
          <a:prstGeom prst="roundRect">
            <a:avLst/>
          </a:prstGeom>
          <a:solidFill>
            <a:srgbClr val="0C1F4B"/>
          </a:solidFill>
          <a:ln>
            <a:solidFill>
              <a:srgbClr val="1E4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59E0B"/>
                </a:solidFill>
              </a:defRPr>
            </a:pPr>
            <a:r>
              <a:t>⏸️ Visualización de Pausas en Barra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Espacio de Pausa: Se proyecta una franja translúcida rayada sobre el periodo exacto en que ocurrió la detención.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Ícono de Pausa: Marcador '⏸️' con tooltip detallado que muestra fechas exactas y motivo.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Sin alteraciones de avance: El avance real completado (% real) se mantiene intacto.</a:t>
            </a:r>
          </a:p>
          <a:p>
            <a:pPr>
              <a:spcBef>
                <a:spcPts val="800"/>
              </a:spcBef>
              <a:defRPr sz="1200">
                <a:solidFill>
                  <a:srgbClr val="F8FAFC"/>
                </a:solidFill>
              </a:defRPr>
            </a:pPr>
            <a:r>
              <a:t>•  Transparencia para clientes y gerencia: Evidencia rápida de por qué un hito se movió en el tiempo.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48640"/>
            <a:ext cx="2560320" cy="320040"/>
          </a:xfrm>
          <a:prstGeom prst="roundRect">
            <a:avLst/>
          </a:prstGeom>
          <a:solidFill>
            <a:srgbClr val="0C1F4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NAVEGACIÓN TEMPORAL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Visión por Semanas y por Meses en Cada Proyecto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Flexibilidad para analizar proyectos de corto o largo plazo con la escala adecuada.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10362895" cy="411480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📅 Control de Escala Temporal Individual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  Selector [ Semanas | Meses ] en la cabecera del cronograma de cada proyecto: Ya no dependes únicamente de la escala global.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  Vista Mensual para proyectos extensos: Permite visualizar planificaciones semestrales o anuales completas sin scroll horizontal excesivo.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  Vista Semanal para seguimiento táctico: Permite revisar entregables inmediatos, fechas de corte y sprints con máxima granularidad.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  Independencia entre proyectos: Puedes tener un proyecto en vista mensual y otro en vista semanal al mismo tiempo sin que interfieran.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  Línea de 'Hoy' adaptativa: La guía vertical roja se posiciona automáticamente en la semana o en la proporción exacta del mes actual.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48640"/>
            <a:ext cx="2560320" cy="320040"/>
          </a:xfrm>
          <a:prstGeom prst="roundRect">
            <a:avLst/>
          </a:prstGeom>
          <a:solidFill>
            <a:srgbClr val="0C1F4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BUENAS PRÁCTICAS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8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Trazabilidad, Bitácora y Recomendaciones de Uso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</a:defRPr>
            </a:pPr>
            <a:r>
              <a:t>Lineamientos para que los líderes y gerentes mantengan la data confiable y transparente.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5029200" cy="173736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366F1"/>
                </a:solidFill>
              </a:defRPr>
            </a:pPr>
            <a:r>
              <a:t>Comentarios Automáticos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Cada pausa o reanudación crea una entrada automática en el historial del proyecto con el autor, motivo y fechas. No es necesario duplicar el reporte.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03120"/>
            <a:ext cx="5029200" cy="173736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Pausar a Tiempo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Si el proyecto se detiene por falta de respuesta del cliente o bloqueos externos, registrar la pausa de inmediato para no penalizar el % de avance en el Dashboard.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06240"/>
            <a:ext cx="5029200" cy="173736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Fecha Retroactiva Responsable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Si por alguna razón no pudiste pausar el mismo día, utiliza el selector de fecha de inicio de pausa para ingresar la fecha real del bloqueo.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206240"/>
            <a:ext cx="5029200" cy="173736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Comunicación con Gerencia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</a:defRPr>
            </a:pPr>
            <a:r>
              <a:t>Las pausas quedan registradas en los logs de auditoría y en el resumen ejecutivo de IA para los comités semanales.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0C1F4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0"/>
              </a:spcBef>
              <a:defRPr sz="2800" b="1">
                <a:solidFill>
                  <a:srgbClr val="38BDF8"/>
                </a:solidFill>
              </a:defRPr>
            </a:pPr>
            <a:r>
              <a:t>¿PREGUNTAS O COMENTARIOS?</a:t>
            </a:r>
          </a:p>
          <a:p>
            <a:pPr algn="ctr"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Las nuevas funcionalidades ya se encuentran disponibles y activas en producción.</a:t>
            </a:r>
          </a:p>
          <a:p>
            <a:pPr algn="ctr">
              <a:spcBef>
                <a:spcPts val="2000"/>
              </a:spcBef>
              <a:defRPr sz="1500" b="1">
                <a:solidFill>
                  <a:srgbClr val="10B981"/>
                </a:solidFill>
              </a:defRPr>
            </a:pPr>
            <a:r>
              <a:t>🌐 Enlace a la plataforma: https://nexus-tracker-b7a75.web.app</a:t>
            </a:r>
          </a:p>
          <a:p>
            <a:pPr algn="ctr">
              <a:spcBef>
                <a:spcPts val="2500"/>
              </a:spcBef>
              <a:defRPr sz="1200">
                <a:solidFill>
                  <a:srgbClr val="94A3B8"/>
                </a:solidFill>
              </a:defRPr>
            </a:pPr>
            <a:r>
              <a:t>Gracias por su compromiso con la excelencia operativa · Experis Chile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