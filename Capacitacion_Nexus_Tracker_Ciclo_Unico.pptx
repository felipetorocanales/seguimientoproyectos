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3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371600" y="1188720"/>
            <a:ext cx="9448495" cy="4480560"/>
          </a:xfrm>
          <a:prstGeom prst="roundRect">
            <a:avLst/>
          </a:prstGeom>
          <a:solidFill>
            <a:srgbClr val="0C1F4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500"/>
              </a:spcBef>
              <a:defRPr sz="1600" b="1">
                <a:solidFill>
                  <a:srgbClr val="38BDF8"/>
                </a:solidFill>
              </a:defRPr>
            </a:pPr>
            <a:r>
              <a:t>NEXUS TRACKER</a:t>
            </a:r>
          </a:p>
          <a:p>
            <a:pPr algn="ctr">
              <a:spcBef>
                <a:spcPts val="1000"/>
              </a:spcBef>
              <a:defRPr sz="3200" b="1">
                <a:solidFill>
                  <a:srgbClr val="F8FAFC"/>
                </a:solidFill>
              </a:defRPr>
            </a:pPr>
            <a:r>
              <a:t>Capacitación Nuevas Funcionalidades</a:t>
            </a:r>
          </a:p>
          <a:p>
            <a:pPr algn="ctr">
              <a:spcBef>
                <a:spcPts val="1200"/>
              </a:spcBef>
              <a:defRPr sz="1400">
                <a:solidFill>
                  <a:srgbClr val="94A3B8"/>
                </a:solidFill>
              </a:defRPr>
            </a:pPr>
            <a:r>
              <a:t>Ciclo Único Variable · Gestión de Pausas · Cronograma Flexible · Bot de Telegram</a:t>
            </a:r>
          </a:p>
          <a:p>
            <a:pPr algn="ctr">
              <a:spcBef>
                <a:spcPts val="3500"/>
              </a:spcBef>
              <a:defRPr sz="1200">
                <a:solidFill>
                  <a:srgbClr val="60A5FA"/>
                </a:solidFill>
              </a:defRPr>
            </a:pPr>
            <a:r>
              <a:t>Experis Chile · Sistema de Seguimiento Estratégico · Versión Producción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3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14400" y="502920"/>
            <a:ext cx="2926080" cy="320040"/>
          </a:xfrm>
          <a:prstGeom prst="roundRect">
            <a:avLst/>
          </a:prstGeom>
          <a:solidFill>
            <a:srgbClr val="0C1F4B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38BDF8"/>
                </a:solidFill>
              </a:defRPr>
            </a:pPr>
            <a:r>
              <a:t>AGENDA DE CAPACITACIÓN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841248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F8FAFC"/>
                </a:solidFill>
              </a:defRPr>
            </a:pPr>
            <a:r>
              <a:t>¿Qué veremos hoy?</a:t>
            </a:r>
          </a:p>
          <a:p>
            <a:pPr>
              <a:spcBef>
                <a:spcPts val="400"/>
              </a:spcBef>
              <a:defRPr sz="1300">
                <a:solidFill>
                  <a:srgbClr val="94A3B8"/>
                </a:solidFill>
              </a:defRPr>
            </a:pPr>
            <a:r>
              <a:t>Evolución integral del modelo de seguimiento hacia mayor dinamismo y flexibilidad.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2011680"/>
            <a:ext cx="5029200" cy="1828800"/>
          </a:xfrm>
          <a:prstGeom prst="roundRect">
            <a:avLst/>
          </a:prstGeom>
          <a:solidFill>
            <a:srgbClr val="0C1F4B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6366F1"/>
                </a:solidFill>
              </a:defRPr>
            </a:pPr>
            <a:r>
              <a:t>1. Ciclo Único Variable</a:t>
            </a:r>
          </a:p>
          <a:p>
            <a:pPr>
              <a:spcBef>
                <a:spcPts val="800"/>
              </a:spcBef>
              <a:defRPr sz="1300">
                <a:solidFill>
                  <a:srgbClr val="F8FAFC"/>
                </a:solidFill>
              </a:defRPr>
            </a:pPr>
            <a:r>
              <a:t>Adiós a fases rígidas estandarizadas: cada proyecto es un ciclo fluido gobernado por su bitácora de comentarios.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2011680"/>
            <a:ext cx="5029200" cy="1828800"/>
          </a:xfrm>
          <a:prstGeom prst="roundRect">
            <a:avLst/>
          </a:prstGeom>
          <a:solidFill>
            <a:srgbClr val="0C1F4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59E0B"/>
                </a:solidFill>
              </a:defRPr>
            </a:pPr>
            <a:r>
              <a:t>2. Pausas &amp; Extensión Dinámica</a:t>
            </a:r>
          </a:p>
          <a:p>
            <a:pPr>
              <a:spcBef>
                <a:spcPts val="800"/>
              </a:spcBef>
              <a:defRPr sz="1300">
                <a:solidFill>
                  <a:srgbClr val="F8FAFC"/>
                </a:solidFill>
              </a:defRPr>
            </a:pPr>
            <a:r>
              <a:t>Pausar/reanudar con fecha flexible y justificación obligatoria, sumando días sin perder la meta inicial.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4114800"/>
            <a:ext cx="5029200" cy="1828800"/>
          </a:xfrm>
          <a:prstGeom prst="roundRect">
            <a:avLst/>
          </a:prstGeom>
          <a:solidFill>
            <a:srgbClr val="0C1F4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38BDF8"/>
                </a:solidFill>
              </a:defRPr>
            </a:pPr>
            <a:r>
              <a:t>3. Cronograma Semanas / Meses</a:t>
            </a:r>
          </a:p>
          <a:p>
            <a:pPr>
              <a:spcBef>
                <a:spcPts val="800"/>
              </a:spcBef>
              <a:defRPr sz="1300">
                <a:solidFill>
                  <a:srgbClr val="F8FAFC"/>
                </a:solidFill>
              </a:defRPr>
            </a:pPr>
            <a:r>
              <a:t>Suavizado visual de aplazamientos (sin alarmismo) y selector [Semanas | Meses] individual por proyecto.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4114800"/>
            <a:ext cx="5029200" cy="1828800"/>
          </a:xfrm>
          <a:prstGeom prst="roundRect">
            <a:avLst/>
          </a:prstGeom>
          <a:solidFill>
            <a:srgbClr val="0C1F4B"/>
          </a:solidFill>
          <a:ln w="19050">
            <a:solidFill>
              <a:srgbClr val="29A9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29A9EA"/>
                </a:solidFill>
              </a:defRPr>
            </a:pPr>
            <a:r>
              <a:t>4. Bot de Telegram Oficial</a:t>
            </a:r>
          </a:p>
          <a:p>
            <a:pPr>
              <a:spcBef>
                <a:spcPts val="800"/>
              </a:spcBef>
              <a:defRPr sz="1300">
                <a:solidFill>
                  <a:srgbClr val="F8FAFC"/>
                </a:solidFill>
              </a:defRPr>
            </a:pPr>
            <a:r>
              <a:t>Comandos de visualización ejecutiva (/resumen, /proyectos, /buscar) y actualización guiada (/actualizar).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3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14400" y="502920"/>
            <a:ext cx="2926080" cy="320040"/>
          </a:xfrm>
          <a:prstGeom prst="roundRect">
            <a:avLst/>
          </a:prstGeom>
          <a:solidFill>
            <a:srgbClr val="0C1F4B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38BDF8"/>
                </a:solidFill>
              </a:defRPr>
            </a:pPr>
            <a:r>
              <a:t>EVOLUCIÓN DEL MODELO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841248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F8FAFC"/>
                </a:solidFill>
              </a:defRPr>
            </a:pPr>
            <a:r>
              <a:t>Transición: De Fases Estandarizadas a Ciclo Único Variable</a:t>
            </a:r>
          </a:p>
          <a:p>
            <a:pPr>
              <a:spcBef>
                <a:spcPts val="400"/>
              </a:spcBef>
              <a:defRPr sz="1300">
                <a:solidFill>
                  <a:srgbClr val="94A3B8"/>
                </a:solidFill>
              </a:defRPr>
            </a:pPr>
            <a:r>
              <a:t>Simplificación operativa donde la realidad del proyecto guía el flujo de trabajo.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1920240"/>
            <a:ext cx="5029200" cy="4297680"/>
          </a:xfrm>
          <a:prstGeom prst="roundRect">
            <a:avLst/>
          </a:prstGeom>
          <a:solidFill>
            <a:srgbClr val="0C1F4B"/>
          </a:solidFill>
          <a:ln w="19050"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87171"/>
                </a:solidFill>
              </a:defRPr>
            </a:pPr>
            <a:r>
              <a:t>❌ Modelo Anterior: Fases Rígidas</a:t>
            </a:r>
          </a:p>
          <a:p>
            <a:pPr>
              <a:spcBef>
                <a:spcPts val="800"/>
              </a:spcBef>
              <a:defRPr sz="1200">
                <a:solidFill>
                  <a:srgbClr val="94A3B8"/>
                </a:solidFill>
              </a:defRPr>
            </a:pPr>
            <a:r>
              <a:t>•  Estructura predefinida obligatoria (Levantamiento, Diseño, Desarrollo, Pruebas, Despliegue).</a:t>
            </a:r>
          </a:p>
          <a:p>
            <a:pPr>
              <a:spcBef>
                <a:spcPts val="800"/>
              </a:spcBef>
              <a:defRPr sz="1200">
                <a:solidFill>
                  <a:srgbClr val="94A3B8"/>
                </a:solidFill>
              </a:defRPr>
            </a:pPr>
            <a:r>
              <a:t>•  Burocracia de actualización: Había que editar fechas y porcentajes fase por fase individualmente.</a:t>
            </a:r>
          </a:p>
          <a:p>
            <a:pPr>
              <a:spcBef>
                <a:spcPts val="800"/>
              </a:spcBef>
              <a:defRPr sz="1200">
                <a:solidFill>
                  <a:srgbClr val="94A3B8"/>
                </a:solidFill>
              </a:defRPr>
            </a:pPr>
            <a:r>
              <a:t>•  Desalineación con la realidad: Muchos proyectos no siguen cascadas tradicionales o tienen ciclos ágiles híbridos.</a:t>
            </a:r>
          </a:p>
          <a:p>
            <a:pPr>
              <a:spcBef>
                <a:spcPts val="800"/>
              </a:spcBef>
              <a:defRPr sz="1200">
                <a:solidFill>
                  <a:srgbClr val="94A3B8"/>
                </a:solidFill>
              </a:defRPr>
            </a:pPr>
            <a:r>
              <a:t>•  Confusión en fechas: Fechas intermedias ficticias que no representaban el avance real del cliente.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920240"/>
            <a:ext cx="5029200" cy="4297680"/>
          </a:xfrm>
          <a:prstGeom prst="roundRect">
            <a:avLst/>
          </a:prstGeom>
          <a:solidFill>
            <a:srgbClr val="0C1F4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10B981"/>
                </a:solidFill>
              </a:defRPr>
            </a:pPr>
            <a:r>
              <a:t>✅ Nuevo Modelo: Ciclo Único Variable</a:t>
            </a:r>
          </a:p>
          <a:p>
            <a:pPr>
              <a:spcBef>
                <a:spcPts val="800"/>
              </a:spcBef>
              <a:defRPr sz="1200">
                <a:solidFill>
                  <a:srgbClr val="F8FAFC"/>
                </a:solidFill>
              </a:defRPr>
            </a:pPr>
            <a:r>
              <a:t>•  Un solo horizonte claro por proyecto: Fecha de Inicio → Fecha de Compromiso de Entrega.</a:t>
            </a:r>
          </a:p>
          <a:p>
            <a:pPr>
              <a:spcBef>
                <a:spcPts val="800"/>
              </a:spcBef>
              <a:defRPr sz="1200">
                <a:solidFill>
                  <a:srgbClr val="F8FAFC"/>
                </a:solidFill>
              </a:defRPr>
            </a:pPr>
            <a:r>
              <a:t>•  Gobierno por Comentarios / Bitácora: El avance y estado se van construyendo dinámicamente con las actualizaciones que ingresa el equipo.</a:t>
            </a:r>
          </a:p>
          <a:p>
            <a:pPr>
              <a:spcBef>
                <a:spcPts val="800"/>
              </a:spcBef>
              <a:defRPr sz="1200">
                <a:solidFill>
                  <a:srgbClr val="F8FAFC"/>
                </a:solidFill>
              </a:defRPr>
            </a:pPr>
            <a:r>
              <a:t>•  Motor de Inteligencia Artificial: Infiere la etapa táctica real a partir del contexto de los comentarios ingresados.</a:t>
            </a:r>
          </a:p>
          <a:p>
            <a:pPr>
              <a:spcBef>
                <a:spcPts val="800"/>
              </a:spcBef>
              <a:defRPr sz="1200">
                <a:solidFill>
                  <a:srgbClr val="F8FAFC"/>
                </a:solidFill>
              </a:defRPr>
            </a:pPr>
            <a:r>
              <a:t>•  Agilidad total: Actualizar el avance real (% editable directo) y reportar hitos en segundos desde la app o Telegram.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3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14400" y="502920"/>
            <a:ext cx="2926080" cy="320040"/>
          </a:xfrm>
          <a:prstGeom prst="roundRect">
            <a:avLst/>
          </a:prstGeom>
          <a:solidFill>
            <a:srgbClr val="0C1F4B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38BDF8"/>
                </a:solidFill>
              </a:defRPr>
            </a:pPr>
            <a:r>
              <a:t>GESTIÓN VIVA DEL PROYECTO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841248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F8FAFC"/>
                </a:solidFill>
              </a:defRPr>
            </a:pPr>
            <a:r>
              <a:t>¿Cómo Opera el Ciclo Variable Basado en Comentarios?</a:t>
            </a:r>
          </a:p>
          <a:p>
            <a:pPr>
              <a:spcBef>
                <a:spcPts val="400"/>
              </a:spcBef>
              <a:defRPr sz="1300">
                <a:solidFill>
                  <a:srgbClr val="94A3B8"/>
                </a:solidFill>
              </a:defRPr>
            </a:pPr>
            <a:r>
              <a:t>Cada comentario ingresado enriquece el estado del proyecto y ajusta la visión en tiempo real.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2011680"/>
            <a:ext cx="3291840" cy="4206240"/>
          </a:xfrm>
          <a:prstGeom prst="roundRect">
            <a:avLst/>
          </a:prstGeom>
          <a:solidFill>
            <a:srgbClr val="0C1F4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38BDF8"/>
                </a:solidFill>
              </a:defRPr>
            </a:pPr>
            <a:r>
              <a:t>1. Reporte Rápido y Flexible</a:t>
            </a:r>
          </a:p>
          <a:p>
            <a:pPr>
              <a:spcBef>
                <a:spcPts val="1400"/>
              </a:spcBef>
              <a:defRPr sz="1300">
                <a:solidFill>
                  <a:srgbClr val="F8FAFC"/>
                </a:solidFill>
              </a:defRPr>
            </a:pPr>
            <a:r>
              <a:t>El líder o desarrollador escribe notas directas: avances, acuerdos con el cliente, bloqueos o hitos completados.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80560" y="2011680"/>
            <a:ext cx="3291840" cy="4206240"/>
          </a:xfrm>
          <a:prstGeom prst="roundRect">
            <a:avLst/>
          </a:prstGeom>
          <a:solidFill>
            <a:srgbClr val="0C1F4B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6366F1"/>
                </a:solidFill>
              </a:defRPr>
            </a:pPr>
            <a:r>
              <a:t>2. Inferencia Inteligente (IA)</a:t>
            </a:r>
          </a:p>
          <a:p>
            <a:pPr>
              <a:spcBef>
                <a:spcPts val="1400"/>
              </a:spcBef>
              <a:defRPr sz="1300">
                <a:solidFill>
                  <a:srgbClr val="F8FAFC"/>
                </a:solidFill>
              </a:defRPr>
            </a:pPr>
            <a:r>
              <a:t>El sistema analiza semánticamente las notas para deducir la etapa activa (ej: 'Pruebas UAT', 'Despliegue', 'Afinamiento').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2011680"/>
            <a:ext cx="3291840" cy="4206240"/>
          </a:xfrm>
          <a:prstGeom prst="roundRect">
            <a:avLst/>
          </a:prstGeom>
          <a:solidFill>
            <a:srgbClr val="0C1F4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59E0B"/>
                </a:solidFill>
              </a:defRPr>
            </a:pPr>
            <a:r>
              <a:t>3. Indicadores de Salud</a:t>
            </a:r>
          </a:p>
          <a:p>
            <a:pPr>
              <a:spcBef>
                <a:spcPts val="1400"/>
              </a:spcBef>
              <a:defRPr sz="1300">
                <a:solidFill>
                  <a:srgbClr val="F8FAFC"/>
                </a:solidFill>
              </a:defRPr>
            </a:pPr>
            <a:r>
              <a:t>Detecta alertas tempranas (🟢 A Tiempo, 🟡 En Riesgo, 🚨 Retrasado) según el gap entre tiempo hábil y avance reportado.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3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14400" y="502920"/>
            <a:ext cx="2926080" cy="320040"/>
          </a:xfrm>
          <a:prstGeom prst="roundRect">
            <a:avLst/>
          </a:prstGeom>
          <a:solidFill>
            <a:srgbClr val="0C1F4B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38BDF8"/>
                </a:solidFill>
              </a:defRPr>
            </a:pPr>
            <a:r>
              <a:t>MÓDULO DE PAUSAS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841248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F8FAFC"/>
                </a:solidFill>
              </a:defRPr>
            </a:pPr>
            <a:r>
              <a:t>Pausar y Reanudar Proyectos de Forma Controlada</a:t>
            </a:r>
          </a:p>
          <a:p>
            <a:pPr>
              <a:spcBef>
                <a:spcPts val="400"/>
              </a:spcBef>
              <a:defRPr sz="1300">
                <a:solidFill>
                  <a:srgbClr val="94A3B8"/>
                </a:solidFill>
              </a:defRPr>
            </a:pPr>
            <a:r>
              <a:t>Detiene el conteo del tiempo hábil sin alterar las métricas de avance de los desarrolladores.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2011680"/>
            <a:ext cx="5029200" cy="4206240"/>
          </a:xfrm>
          <a:prstGeom prst="roundRect">
            <a:avLst/>
          </a:prstGeom>
          <a:solidFill>
            <a:srgbClr val="0C1F4B"/>
          </a:solidFill>
          <a:ln>
            <a:solidFill>
              <a:srgbClr val="1E40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F59E0B"/>
                </a:solidFill>
              </a:defRPr>
            </a:pPr>
            <a:r>
              <a:t>⏸️ ¿Cómo Funciona la Pausa?</a:t>
            </a:r>
          </a:p>
          <a:p>
            <a:pPr>
              <a:spcBef>
                <a:spcPts val="800"/>
              </a:spcBef>
              <a:defRPr sz="1200">
                <a:solidFill>
                  <a:srgbClr val="F8FAFC"/>
                </a:solidFill>
              </a:defRPr>
            </a:pPr>
            <a:r>
              <a:t>•  Botón 'Pausar' disponible en la tarjeta de cada proyecto para Líderes y Administradores.</a:t>
            </a:r>
          </a:p>
          <a:p>
            <a:pPr>
              <a:spcBef>
                <a:spcPts val="800"/>
              </a:spcBef>
              <a:defRPr sz="1200">
                <a:solidFill>
                  <a:srgbClr val="F8FAFC"/>
                </a:solidFill>
              </a:defRPr>
            </a:pPr>
            <a:r>
              <a:t>•  Fecha de inicio de pausa flexible: Propone hoy por defecto pero permite indicar una fecha anterior si la detención ocurrió antes.</a:t>
            </a:r>
          </a:p>
          <a:p>
            <a:pPr>
              <a:spcBef>
                <a:spcPts val="800"/>
              </a:spcBef>
              <a:defRPr sz="1200">
                <a:solidFill>
                  <a:srgbClr val="F8FAFC"/>
                </a:solidFill>
              </a:defRPr>
            </a:pPr>
            <a:r>
              <a:t>•  Motivo Obligatorio: Es mandatorio ingresar la justificación (ej: 'Espera de credenciales', 'Validación cliente', 'Bloqueo presupuestario').</a:t>
            </a:r>
          </a:p>
          <a:p>
            <a:pPr>
              <a:spcBef>
                <a:spcPts val="800"/>
              </a:spcBef>
              <a:defRPr sz="1200">
                <a:solidFill>
                  <a:srgbClr val="F8FAFC"/>
                </a:solidFill>
              </a:defRPr>
            </a:pPr>
            <a:r>
              <a:t>•  Estado Visual Inmediato: Píldora distintiva '⏸️ En Pausa (+Xd)' y filtrado directo en el tablero.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2011680"/>
            <a:ext cx="5029200" cy="4206240"/>
          </a:xfrm>
          <a:prstGeom prst="roundRect">
            <a:avLst/>
          </a:prstGeom>
          <a:solidFill>
            <a:srgbClr val="0C1F4B"/>
          </a:solidFill>
          <a:ln>
            <a:solidFill>
              <a:srgbClr val="1E40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10B981"/>
                </a:solidFill>
              </a:defRPr>
            </a:pPr>
            <a:r>
              <a:t>▶️ Reanudación y Cierre de Pausa</a:t>
            </a:r>
          </a:p>
          <a:p>
            <a:pPr>
              <a:spcBef>
                <a:spcPts val="800"/>
              </a:spcBef>
              <a:defRPr sz="1200">
                <a:solidFill>
                  <a:srgbClr val="F8FAFC"/>
                </a:solidFill>
              </a:defRPr>
            </a:pPr>
            <a:r>
              <a:t>•  El botón conmuta a '▶️ Reanudar': Un solo clic reincorpora el proyecto al flujo activo de trabajo.</a:t>
            </a:r>
          </a:p>
          <a:p>
            <a:pPr>
              <a:spcBef>
                <a:spcPts val="800"/>
              </a:spcBef>
              <a:defRPr sz="1200">
                <a:solidFill>
                  <a:srgbClr val="F8FAFC"/>
                </a:solidFill>
              </a:defRPr>
            </a:pPr>
            <a:r>
              <a:t>•  Cálculo exacto de días: Computa con precisión los días que estuvo pausado y cierra el intervalo formalmente.</a:t>
            </a:r>
          </a:p>
          <a:p>
            <a:pPr>
              <a:spcBef>
                <a:spcPts val="800"/>
              </a:spcBef>
              <a:defRPr sz="1200">
                <a:solidFill>
                  <a:srgbClr val="F8FAFC"/>
                </a:solidFill>
              </a:defRPr>
            </a:pPr>
            <a:r>
              <a:t>•  Historial Completo: Cada proyecto almacena todas sus pausas con fechas exactas, usuario responsable y motivos.</a:t>
            </a:r>
          </a:p>
          <a:p>
            <a:pPr>
              <a:spcBef>
                <a:spcPts val="800"/>
              </a:spcBef>
              <a:defRPr sz="1200">
                <a:solidFill>
                  <a:srgbClr val="F8FAFC"/>
                </a:solidFill>
              </a:defRPr>
            </a:pPr>
            <a:r>
              <a:t>•  Pausas Múltiples: Un proyecto puede pausarse y reactivarse reiteradas veces; todos los días se totalizan automáticamente.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3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14400" y="502920"/>
            <a:ext cx="2926080" cy="320040"/>
          </a:xfrm>
          <a:prstGeom prst="roundRect">
            <a:avLst/>
          </a:prstGeom>
          <a:solidFill>
            <a:srgbClr val="0C1F4B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38BDF8"/>
                </a:solidFill>
              </a:defRPr>
            </a:pPr>
            <a:r>
              <a:t>LÓGICA DE FECHAS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841248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F8FAFC"/>
                </a:solidFill>
              </a:defRPr>
            </a:pPr>
            <a:r>
              <a:t>Extensión Dinámica de la Fecha de Entrega</a:t>
            </a:r>
          </a:p>
          <a:p>
            <a:pPr>
              <a:spcBef>
                <a:spcPts val="400"/>
              </a:spcBef>
              <a:defRPr sz="1300">
                <a:solidFill>
                  <a:srgbClr val="94A3B8"/>
                </a:solidFill>
              </a:defRPr>
            </a:pPr>
            <a:r>
              <a:t>Garantía de que las pausas por terceros no impacten negativamente la evaluación del equipo.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2011680"/>
            <a:ext cx="3291840" cy="4206240"/>
          </a:xfrm>
          <a:prstGeom prst="roundRect">
            <a:avLst/>
          </a:prstGeom>
          <a:solidFill>
            <a:srgbClr val="0C1F4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38BDF8"/>
                </a:solidFill>
              </a:defRPr>
            </a:pPr>
            <a:r>
              <a:t>1. Meta Inicial Inmutable</a:t>
            </a:r>
          </a:p>
          <a:p>
            <a:pPr>
              <a:spcBef>
                <a:spcPts val="1400"/>
              </a:spcBef>
              <a:defRPr sz="1300">
                <a:solidFill>
                  <a:srgbClr val="F8FAFC"/>
                </a:solidFill>
              </a:defRPr>
            </a:pPr>
            <a:r>
              <a:t>La fecha de compromiso original (ej: 03/02/2027) jamás se borra. Queda protegida como 'Meta Inicial' con candado de auditoría.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80560" y="2011680"/>
            <a:ext cx="3291840" cy="4206240"/>
          </a:xfrm>
          <a:prstGeom prst="roundRect">
            <a:avLst/>
          </a:prstGeom>
          <a:solidFill>
            <a:srgbClr val="0C1F4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59E0B"/>
                </a:solidFill>
              </a:defRPr>
            </a:pPr>
            <a:r>
              <a:t>2. Suma Día tras Día</a:t>
            </a:r>
          </a:p>
          <a:p>
            <a:pPr>
              <a:spcBef>
                <a:spcPts val="1400"/>
              </a:spcBef>
              <a:defRPr sz="1300">
                <a:solidFill>
                  <a:srgbClr val="F8FAFC"/>
                </a:solidFill>
              </a:defRPr>
            </a:pPr>
            <a:r>
              <a:t>Mientras el proyecto permanezca en pausa, el sistema suma los días a la fecha de entrega final, aplazándola dinámicamente en tiempo real.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2011680"/>
            <a:ext cx="3291840" cy="4206240"/>
          </a:xfrm>
          <a:prstGeom prst="roundRect">
            <a:avLst/>
          </a:prstGeom>
          <a:solidFill>
            <a:srgbClr val="0C1F4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10B981"/>
                </a:solidFill>
              </a:defRPr>
            </a:pPr>
            <a:r>
              <a:t>3. Desfase Justificado</a:t>
            </a:r>
          </a:p>
          <a:p>
            <a:pPr>
              <a:spcBef>
                <a:spcPts val="1400"/>
              </a:spcBef>
              <a:defRPr sz="1300">
                <a:solidFill>
                  <a:srgbClr val="F8FAFC"/>
                </a:solidFill>
              </a:defRPr>
            </a:pPr>
            <a:r>
              <a:t>Al reanudar, la nueva fecha de entrega queda formalmente consolidada sumando los días efectivos de retraso justificado.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3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14400" y="502920"/>
            <a:ext cx="2926080" cy="320040"/>
          </a:xfrm>
          <a:prstGeom prst="roundRect">
            <a:avLst/>
          </a:prstGeom>
          <a:solidFill>
            <a:srgbClr val="0C1F4B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38BDF8"/>
                </a:solidFill>
              </a:defRPr>
            </a:pPr>
            <a:r>
              <a:t>EXPERIENCIA VISUAL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841248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F8FAFC"/>
                </a:solidFill>
              </a:defRPr>
            </a:pPr>
            <a:r>
              <a:t>Diseño Suave y Amigable del Cronograma</a:t>
            </a:r>
          </a:p>
          <a:p>
            <a:pPr>
              <a:spcBef>
                <a:spcPts val="400"/>
              </a:spcBef>
              <a:defRPr sz="1300">
                <a:solidFill>
                  <a:srgbClr val="94A3B8"/>
                </a:solidFill>
              </a:defRPr>
            </a:pPr>
            <a:r>
              <a:t>Alineado con el feedback del equipo: eliminar sensaciones de alarma innecesarias.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2011680"/>
            <a:ext cx="5029200" cy="4206240"/>
          </a:xfrm>
          <a:prstGeom prst="roundRect">
            <a:avLst/>
          </a:prstGeom>
          <a:solidFill>
            <a:srgbClr val="0C1F4B"/>
          </a:solidFill>
          <a:ln>
            <a:solidFill>
              <a:srgbClr val="1E40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38BDF8"/>
                </a:solidFill>
              </a:defRPr>
            </a:pPr>
            <a:r>
              <a:t>🎨 Tono Suave de Días Aplazados</a:t>
            </a:r>
          </a:p>
          <a:p>
            <a:pPr>
              <a:spcBef>
                <a:spcPts val="800"/>
              </a:spcBef>
              <a:defRPr sz="1200">
                <a:solidFill>
                  <a:srgbClr val="F8FAFC"/>
                </a:solidFill>
              </a:defRPr>
            </a:pPr>
            <a:r>
              <a:t>•  Antes: Franjas naranjas/amarillas brillantes de advertencia que causaban alerta visual excesiva.</a:t>
            </a:r>
          </a:p>
          <a:p>
            <a:pPr>
              <a:spcBef>
                <a:spcPts val="800"/>
              </a:spcBef>
              <a:defRPr sz="1200">
                <a:solidFill>
                  <a:srgbClr val="F8FAFC"/>
                </a:solidFill>
              </a:defRPr>
            </a:pPr>
            <a:r>
              <a:t>•  Ahora: Estilo translúcido elegante en cian y azul noche con borde punteado suave.</a:t>
            </a:r>
          </a:p>
          <a:p>
            <a:pPr>
              <a:spcBef>
                <a:spcPts val="800"/>
              </a:spcBef>
              <a:defRPr sz="1200">
                <a:solidFill>
                  <a:srgbClr val="F8FAFC"/>
                </a:solidFill>
              </a:defRPr>
            </a:pPr>
            <a:r>
              <a:t>•  Indicador discreto: Píldora compacta '⏳ +Xd (DD/MM/AAAA)' integrada con armonía en la barra del proyecto.</a:t>
            </a:r>
          </a:p>
          <a:p>
            <a:pPr>
              <a:spcBef>
                <a:spcPts val="800"/>
              </a:spcBef>
              <a:defRPr sz="1200">
                <a:solidFill>
                  <a:srgbClr val="F8FAFC"/>
                </a:solidFill>
              </a:defRPr>
            </a:pPr>
            <a:r>
              <a:t>•  Línea de Compromiso Inicial: Delgada marca luminosa que señala con claridad dónde terminaba la meta original.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2011680"/>
            <a:ext cx="5029200" cy="4206240"/>
          </a:xfrm>
          <a:prstGeom prst="roundRect">
            <a:avLst/>
          </a:prstGeom>
          <a:solidFill>
            <a:srgbClr val="0C1F4B"/>
          </a:solidFill>
          <a:ln>
            <a:solidFill>
              <a:srgbClr val="1E40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F59E0B"/>
                </a:solidFill>
              </a:defRPr>
            </a:pPr>
            <a:r>
              <a:t>⏸️ Visualización de Pausas en Barra</a:t>
            </a:r>
          </a:p>
          <a:p>
            <a:pPr>
              <a:spcBef>
                <a:spcPts val="800"/>
              </a:spcBef>
              <a:defRPr sz="1200">
                <a:solidFill>
                  <a:srgbClr val="F8FAFC"/>
                </a:solidFill>
              </a:defRPr>
            </a:pPr>
            <a:r>
              <a:t>•  Espacio de Pausa: Se proyecta una franja translúcida rayada sobre el periodo exacto en que ocurrió la detención.</a:t>
            </a:r>
          </a:p>
          <a:p>
            <a:pPr>
              <a:spcBef>
                <a:spcPts val="800"/>
              </a:spcBef>
              <a:defRPr sz="1200">
                <a:solidFill>
                  <a:srgbClr val="F8FAFC"/>
                </a:solidFill>
              </a:defRPr>
            </a:pPr>
            <a:r>
              <a:t>•  Ícono de Pausa: Marcador '⏸️' con tooltip detallado que muestra fechas exactas y motivo.</a:t>
            </a:r>
          </a:p>
          <a:p>
            <a:pPr>
              <a:spcBef>
                <a:spcPts val="800"/>
              </a:spcBef>
              <a:defRPr sz="1200">
                <a:solidFill>
                  <a:srgbClr val="F8FAFC"/>
                </a:solidFill>
              </a:defRPr>
            </a:pPr>
            <a:r>
              <a:t>•  Sin alteraciones de avance: El avance real completado (% real) se mantiene intacto.</a:t>
            </a:r>
          </a:p>
          <a:p>
            <a:pPr>
              <a:spcBef>
                <a:spcPts val="800"/>
              </a:spcBef>
              <a:defRPr sz="1200">
                <a:solidFill>
                  <a:srgbClr val="F8FAFC"/>
                </a:solidFill>
              </a:defRPr>
            </a:pPr>
            <a:r>
              <a:t>•  Transparencia para clientes y gerencia: Evidencia rápida de por qué un hito se movió en el tiempo.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3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14400" y="502920"/>
            <a:ext cx="2926080" cy="320040"/>
          </a:xfrm>
          <a:prstGeom prst="roundRect">
            <a:avLst/>
          </a:prstGeom>
          <a:solidFill>
            <a:srgbClr val="0C1F4B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38BDF8"/>
                </a:solidFill>
              </a:defRPr>
            </a:pPr>
            <a:r>
              <a:t>NAVEGACIÓN TEMPORAL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841248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F8FAFC"/>
                </a:solidFill>
              </a:defRPr>
            </a:pPr>
            <a:r>
              <a:t>Visión por Semanas y por Meses en Cada Proyecto</a:t>
            </a:r>
          </a:p>
          <a:p>
            <a:pPr>
              <a:spcBef>
                <a:spcPts val="400"/>
              </a:spcBef>
              <a:defRPr sz="1300">
                <a:solidFill>
                  <a:srgbClr val="94A3B8"/>
                </a:solidFill>
              </a:defRPr>
            </a:pPr>
            <a:r>
              <a:t>Flexibilidad para analizar proyectos de corto o largo plazo con la escala adecuada.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2011680"/>
            <a:ext cx="10362895" cy="4206240"/>
          </a:xfrm>
          <a:prstGeom prst="roundRect">
            <a:avLst/>
          </a:prstGeom>
          <a:solidFill>
            <a:srgbClr val="0C1F4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38BDF8"/>
                </a:solidFill>
              </a:defRPr>
            </a:pPr>
            <a:r>
              <a:t>📅 Control de Escala Temporal Individual</a:t>
            </a:r>
          </a:p>
          <a:p>
            <a:pPr>
              <a:spcBef>
                <a:spcPts val="1000"/>
              </a:spcBef>
              <a:defRPr sz="1300">
                <a:solidFill>
                  <a:srgbClr val="F8FAFC"/>
                </a:solidFill>
              </a:defRPr>
            </a:pPr>
            <a:r>
              <a:t>✔   Selector [ Semanas | Meses ] en la cabecera del cronograma de cada proyecto: Ya no dependes únicamente de la escala global.</a:t>
            </a:r>
          </a:p>
          <a:p>
            <a:pPr>
              <a:spcBef>
                <a:spcPts val="1000"/>
              </a:spcBef>
              <a:defRPr sz="1300">
                <a:solidFill>
                  <a:srgbClr val="F8FAFC"/>
                </a:solidFill>
              </a:defRPr>
            </a:pPr>
            <a:r>
              <a:t>✔   Vista Mensual para proyectos extensos: Permite visualizar planificaciones semestrales o anuales completas sin scroll horizontal excesivo.</a:t>
            </a:r>
          </a:p>
          <a:p>
            <a:pPr>
              <a:spcBef>
                <a:spcPts val="1000"/>
              </a:spcBef>
              <a:defRPr sz="1300">
                <a:solidFill>
                  <a:srgbClr val="F8FAFC"/>
                </a:solidFill>
              </a:defRPr>
            </a:pPr>
            <a:r>
              <a:t>✔   Vista Semanal para seguimiento táctico: Permite revisar entregables inmediatos, fechas de corte y sprints con máxima granularidad.</a:t>
            </a:r>
          </a:p>
          <a:p>
            <a:pPr>
              <a:spcBef>
                <a:spcPts val="1000"/>
              </a:spcBef>
              <a:defRPr sz="1300">
                <a:solidFill>
                  <a:srgbClr val="F8FAFC"/>
                </a:solidFill>
              </a:defRPr>
            </a:pPr>
            <a:r>
              <a:t>✔   Independencia entre proyectos: Puedes tener un proyecto en vista mensual y otro en vista semanal al mismo tiempo sin que interfieran.</a:t>
            </a:r>
          </a:p>
          <a:p>
            <a:pPr>
              <a:spcBef>
                <a:spcPts val="1000"/>
              </a:spcBef>
              <a:defRPr sz="1300">
                <a:solidFill>
                  <a:srgbClr val="F8FAFC"/>
                </a:solidFill>
              </a:defRPr>
            </a:pPr>
            <a:r>
              <a:t>✔   Línea de 'Hoy' adaptativa: La guía vertical roja se posiciona automáticamente en la semana o en la proporción exacta del mes actual.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3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14400" y="502920"/>
            <a:ext cx="2926080" cy="320040"/>
          </a:xfrm>
          <a:prstGeom prst="roundRect">
            <a:avLst/>
          </a:prstGeom>
          <a:solidFill>
            <a:srgbClr val="0C1F4B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38BDF8"/>
                </a:solidFill>
              </a:defRPr>
            </a:pPr>
            <a:r>
              <a:t>INTEGRACIÓN TELEGRAM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841248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F8FAFC"/>
                </a:solidFill>
              </a:defRPr>
            </a:pPr>
            <a:r>
              <a:t>Bot de Telegram: Comandos de Consulta y Estado</a:t>
            </a:r>
          </a:p>
          <a:p>
            <a:pPr>
              <a:spcBef>
                <a:spcPts val="400"/>
              </a:spcBef>
              <a:defRPr sz="1300">
                <a:solidFill>
                  <a:srgbClr val="94A3B8"/>
                </a:solidFill>
              </a:defRPr>
            </a:pPr>
            <a:r>
              <a:t>Seguimiento ágil en tiempo real desde dispositivos móviles sin entrar al navegador.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2011680"/>
            <a:ext cx="3291840" cy="4206240"/>
          </a:xfrm>
          <a:prstGeom prst="roundRect">
            <a:avLst/>
          </a:prstGeom>
          <a:solidFill>
            <a:srgbClr val="0C1F4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38BDF8"/>
                </a:solidFill>
              </a:defRPr>
            </a:pPr>
            <a:r>
              <a:t>📊 /resumen</a:t>
            </a:r>
          </a:p>
          <a:p>
            <a:pPr>
              <a:spcBef>
                <a:spcPts val="800"/>
              </a:spcBef>
              <a:defRPr sz="1300" b="1">
                <a:solidFill>
                  <a:srgbClr val="F8FAFC"/>
                </a:solidFill>
              </a:defRPr>
            </a:pPr>
            <a:r>
              <a:t>KPIs Ejecutivos en Segundos</a:t>
            </a:r>
          </a:p>
          <a:p>
            <a:pPr>
              <a:spcBef>
                <a:spcPts val="800"/>
              </a:spcBef>
              <a:defRPr sz="1100">
                <a:solidFill>
                  <a:srgbClr val="94A3B8"/>
                </a:solidFill>
              </a:defRPr>
            </a:pPr>
            <a:r>
              <a:t>Total proyectos, completados, a tiempo 🟢, en riesgo ⚠️, retrasados 🚨, % SLA y lista de proyectos críticos en foco.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80560" y="2011680"/>
            <a:ext cx="3291840" cy="4206240"/>
          </a:xfrm>
          <a:prstGeom prst="roundRect">
            <a:avLst/>
          </a:prstGeom>
          <a:solidFill>
            <a:srgbClr val="0C1F4B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6366F1"/>
                </a:solidFill>
              </a:defRPr>
            </a:pPr>
            <a:r>
              <a:t>📋 /proyectos</a:t>
            </a:r>
          </a:p>
          <a:p>
            <a:pPr>
              <a:spcBef>
                <a:spcPts val="800"/>
              </a:spcBef>
              <a:defRPr sz="1300" b="1">
                <a:solidFill>
                  <a:srgbClr val="F8FAFC"/>
                </a:solidFill>
              </a:defRPr>
            </a:pPr>
            <a:r>
              <a:t>Listado con Filtros Inteligentes</a:t>
            </a:r>
          </a:p>
          <a:p>
            <a:pPr>
              <a:spcBef>
                <a:spcPts val="800"/>
              </a:spcBef>
              <a:defRPr sz="1100">
                <a:solidFill>
                  <a:srgbClr val="94A3B8"/>
                </a:solidFill>
              </a:defRPr>
            </a:pPr>
            <a:r>
              <a:t>Lista proyectos activos con tiempo transcurrido y salud.</a:t>
            </a:r>
            <a:br/>
            <a:r>
              <a:t>Admite filtros: /proyectos todo, completados, riesgo, retrasados.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2011680"/>
            <a:ext cx="3291840" cy="4206240"/>
          </a:xfrm>
          <a:prstGeom prst="roundRect">
            <a:avLst/>
          </a:prstGeom>
          <a:solidFill>
            <a:srgbClr val="0C1F4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F59E0B"/>
                </a:solidFill>
              </a:defRPr>
            </a:pPr>
            <a:r>
              <a:t>🔍 /buscar &lt;nombre&gt;</a:t>
            </a:r>
          </a:p>
          <a:p>
            <a:pPr>
              <a:spcBef>
                <a:spcPts val="800"/>
              </a:spcBef>
              <a:defRPr sz="1300" b="1">
                <a:solidFill>
                  <a:srgbClr val="F8FAFC"/>
                </a:solidFill>
              </a:defRPr>
            </a:pPr>
            <a:r>
              <a:t>Ficha Completa del Proyecto</a:t>
            </a:r>
          </a:p>
          <a:p>
            <a:pPr>
              <a:spcBef>
                <a:spcPts val="800"/>
              </a:spcBef>
              <a:defRPr sz="1100">
                <a:solidFill>
                  <a:srgbClr val="94A3B8"/>
                </a:solidFill>
              </a:defRPr>
            </a:pPr>
            <a:r>
              <a:t>Detalle de cliente, responsable, fecha de entrega, salud actual y las últimas 4 actualizaciones de la bitácora.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3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14400" y="502920"/>
            <a:ext cx="2926080" cy="320040"/>
          </a:xfrm>
          <a:prstGeom prst="roundRect">
            <a:avLst/>
          </a:prstGeom>
          <a:solidFill>
            <a:srgbClr val="0C1F4B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38BDF8"/>
                </a:solidFill>
              </a:defRPr>
            </a:pPr>
            <a:r>
              <a:t>INTEGRACIÓN TELEGRAM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841248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F8FAFC"/>
                </a:solidFill>
              </a:defRPr>
            </a:pPr>
            <a:r>
              <a:t>Bot de Telegram: Asistente Interactivo /actualizar</a:t>
            </a:r>
          </a:p>
          <a:p>
            <a:pPr>
              <a:spcBef>
                <a:spcPts val="400"/>
              </a:spcBef>
              <a:defRPr sz="1300">
                <a:solidFill>
                  <a:srgbClr val="94A3B8"/>
                </a:solidFill>
              </a:defRPr>
            </a:pPr>
            <a:r>
              <a:t>Reporte asistido paso a paso con botones dinámicos (Inline Keyboards).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2011680"/>
            <a:ext cx="2468880" cy="4206240"/>
          </a:xfrm>
          <a:prstGeom prst="roundRect">
            <a:avLst/>
          </a:prstGeom>
          <a:solidFill>
            <a:srgbClr val="0C1F4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38BDF8"/>
                </a:solidFill>
              </a:defRPr>
            </a:pPr>
            <a:r>
              <a:t>Paso 1: /actualizar</a:t>
            </a:r>
          </a:p>
          <a:p>
            <a:pPr>
              <a:spcBef>
                <a:spcPts val="600"/>
              </a:spcBef>
              <a:defRPr sz="1200" b="1">
                <a:solidFill>
                  <a:srgbClr val="F8FAFC"/>
                </a:solidFill>
              </a:defRPr>
            </a:pPr>
            <a:r>
              <a:t>Selección de Proyecto</a:t>
            </a:r>
          </a:p>
          <a:p>
            <a:pPr>
              <a:spcBef>
                <a:spcPts val="800"/>
              </a:spcBef>
              <a:defRPr sz="1100">
                <a:solidFill>
                  <a:srgbClr val="94A3B8"/>
                </a:solidFill>
              </a:defRPr>
            </a:pPr>
            <a:r>
              <a:t>Despliega una lista de botones interactivos con todos los proyectos activos y su indicador de salud (🟢, ⚠️, 🚨).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547872" y="2011680"/>
            <a:ext cx="2468880" cy="4206240"/>
          </a:xfrm>
          <a:prstGeom prst="roundRect">
            <a:avLst/>
          </a:prstGeom>
          <a:solidFill>
            <a:srgbClr val="0C1F4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10B981"/>
                </a:solidFill>
              </a:defRPr>
            </a:pPr>
            <a:r>
              <a:t>Paso 2: Logros</a:t>
            </a:r>
          </a:p>
          <a:p>
            <a:pPr>
              <a:spcBef>
                <a:spcPts val="600"/>
              </a:spcBef>
              <a:defRPr sz="1200" b="1">
                <a:solidFill>
                  <a:srgbClr val="F8FAFC"/>
                </a:solidFill>
              </a:defRPr>
            </a:pPr>
            <a:r>
              <a:t>Reporte de Avances</a:t>
            </a:r>
          </a:p>
          <a:p>
            <a:pPr>
              <a:spcBef>
                <a:spcPts val="800"/>
              </a:spcBef>
              <a:defRPr sz="1100">
                <a:solidFill>
                  <a:srgbClr val="94A3B8"/>
                </a:solidFill>
              </a:defRPr>
            </a:pPr>
            <a:r>
              <a:t>Solicita qué hitos o tareas se completaron en el período. Opción rápida: 'Omitir logros'.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81344" y="2011680"/>
            <a:ext cx="2468880" cy="4206240"/>
          </a:xfrm>
          <a:prstGeom prst="roundRect">
            <a:avLst/>
          </a:prstGeom>
          <a:solidFill>
            <a:srgbClr val="0C1F4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59E0B"/>
                </a:solidFill>
              </a:defRPr>
            </a:pPr>
            <a:r>
              <a:t>Paso 3: Bloqueos</a:t>
            </a:r>
          </a:p>
          <a:p>
            <a:pPr>
              <a:spcBef>
                <a:spcPts val="600"/>
              </a:spcBef>
              <a:defRPr sz="1200" b="1">
                <a:solidFill>
                  <a:srgbClr val="F8FAFC"/>
                </a:solidFill>
              </a:defRPr>
            </a:pPr>
            <a:r>
              <a:t>Frenos o Impedimentos</a:t>
            </a:r>
          </a:p>
          <a:p>
            <a:pPr>
              <a:spcBef>
                <a:spcPts val="800"/>
              </a:spcBef>
              <a:defRPr sz="1100">
                <a:solidFill>
                  <a:srgbClr val="94A3B8"/>
                </a:solidFill>
              </a:defRPr>
            </a:pPr>
            <a:r>
              <a:t>Pregunta qué los está deteniendo (accesos, feedback cliente, bugs). Opción rápida: 'Ninguno (Todo fluye)'.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814816" y="2011680"/>
            <a:ext cx="2468880" cy="4206240"/>
          </a:xfrm>
          <a:prstGeom prst="roundRect">
            <a:avLst/>
          </a:prstGeom>
          <a:solidFill>
            <a:srgbClr val="0C1F4B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6366F1"/>
                </a:solidFill>
              </a:defRPr>
            </a:pPr>
            <a:r>
              <a:t>Paso 4: IA &amp; Bitácora</a:t>
            </a:r>
          </a:p>
          <a:p>
            <a:pPr>
              <a:spcBef>
                <a:spcPts val="600"/>
              </a:spcBef>
              <a:defRPr sz="1200" b="1">
                <a:solidFill>
                  <a:srgbClr val="F8FAFC"/>
                </a:solidFill>
              </a:defRPr>
            </a:pPr>
            <a:r>
              <a:t>Impacto Inmediato</a:t>
            </a:r>
          </a:p>
          <a:p>
            <a:pPr>
              <a:spcBef>
                <a:spcPts val="800"/>
              </a:spcBef>
              <a:defRPr sz="1100">
                <a:solidFill>
                  <a:srgbClr val="94A3B8"/>
                </a:solidFill>
              </a:defRPr>
            </a:pPr>
            <a:r>
              <a:t>Guarda la entrada fechada en Firestore (DD/MM/AA: Logros | Bloqueos), actualiza la web y dispara la inferencia de IA.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3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14400" y="502920"/>
            <a:ext cx="2926080" cy="320040"/>
          </a:xfrm>
          <a:prstGeom prst="roundRect">
            <a:avLst/>
          </a:prstGeom>
          <a:solidFill>
            <a:srgbClr val="0C1F4B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38BDF8"/>
                </a:solidFill>
              </a:defRPr>
            </a:pPr>
            <a:r>
              <a:t>BUENAS PRÁCTICAS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841248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F8FAFC"/>
                </a:solidFill>
              </a:defRPr>
            </a:pPr>
            <a:r>
              <a:t>Trazabilidad, Bitácora y Recomendaciones de Uso</a:t>
            </a:r>
          </a:p>
          <a:p>
            <a:pPr>
              <a:spcBef>
                <a:spcPts val="400"/>
              </a:spcBef>
              <a:defRPr sz="1300">
                <a:solidFill>
                  <a:srgbClr val="94A3B8"/>
                </a:solidFill>
              </a:defRPr>
            </a:pPr>
            <a:r>
              <a:t>Lineamientos para que los líderes y gerentes mantengan la data confiable y transparente.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2011680"/>
            <a:ext cx="5029200" cy="1828800"/>
          </a:xfrm>
          <a:prstGeom prst="roundRect">
            <a:avLst/>
          </a:prstGeom>
          <a:solidFill>
            <a:srgbClr val="0C1F4B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6366F1"/>
                </a:solidFill>
              </a:defRPr>
            </a:pPr>
            <a:r>
              <a:t>Reportar por Telegram o Web</a:t>
            </a:r>
          </a:p>
          <a:p>
            <a:pPr>
              <a:spcBef>
                <a:spcPts val="600"/>
              </a:spcBef>
              <a:defRPr sz="1200">
                <a:solidFill>
                  <a:srgbClr val="F8FAFC"/>
                </a:solidFill>
              </a:defRPr>
            </a:pPr>
            <a:r>
              <a:t>Usa /actualizar al salir de reuniones o terminar sprints. Entre más frecuente el reporte, más certera es la IA en la inferencia.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2011680"/>
            <a:ext cx="5029200" cy="1828800"/>
          </a:xfrm>
          <a:prstGeom prst="roundRect">
            <a:avLst/>
          </a:prstGeom>
          <a:solidFill>
            <a:srgbClr val="0C1F4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59E0B"/>
                </a:solidFill>
              </a:defRPr>
            </a:pPr>
            <a:r>
              <a:t>Pausar a Tiempo</a:t>
            </a:r>
          </a:p>
          <a:p>
            <a:pPr>
              <a:spcBef>
                <a:spcPts val="600"/>
              </a:spcBef>
              <a:defRPr sz="1200">
                <a:solidFill>
                  <a:srgbClr val="F8FAFC"/>
                </a:solidFill>
              </a:defRPr>
            </a:pPr>
            <a:r>
              <a:t>Si el proyecto se detiene por falta de respuesta del cliente o bloqueos externos, registrar la pausa de inmediato para no penalizar el tiempo en Dashboard.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4114800"/>
            <a:ext cx="5029200" cy="1828800"/>
          </a:xfrm>
          <a:prstGeom prst="roundRect">
            <a:avLst/>
          </a:prstGeom>
          <a:solidFill>
            <a:srgbClr val="0C1F4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38BDF8"/>
                </a:solidFill>
              </a:defRPr>
            </a:pPr>
            <a:r>
              <a:t>Fecha Retroactiva Responsable</a:t>
            </a:r>
          </a:p>
          <a:p>
            <a:pPr>
              <a:spcBef>
                <a:spcPts val="600"/>
              </a:spcBef>
              <a:defRPr sz="1200">
                <a:solidFill>
                  <a:srgbClr val="F8FAFC"/>
                </a:solidFill>
              </a:defRPr>
            </a:pPr>
            <a:r>
              <a:t>Si por alguna razón no pudiste pausar el mismo día, utiliza el selector de fecha de inicio de pausa para ingresar la fecha real del bloqueo.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4114800"/>
            <a:ext cx="5029200" cy="1828800"/>
          </a:xfrm>
          <a:prstGeom prst="roundRect">
            <a:avLst/>
          </a:prstGeom>
          <a:solidFill>
            <a:srgbClr val="0C1F4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10B981"/>
                </a:solidFill>
              </a:defRPr>
            </a:pPr>
            <a:r>
              <a:t>Auditoría y Comités</a:t>
            </a:r>
          </a:p>
          <a:p>
            <a:pPr>
              <a:spcBef>
                <a:spcPts val="600"/>
              </a:spcBef>
              <a:defRPr sz="1200">
                <a:solidFill>
                  <a:srgbClr val="F8FAFC"/>
                </a:solidFill>
              </a:defRPr>
            </a:pPr>
            <a:r>
              <a:t>Toda la bitácora alimenta de forma automática los logs de auditoría y el resumen ejecutivo de IA para los comités semanales de gerencia.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3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371600" y="1280160"/>
            <a:ext cx="9448495" cy="4389120"/>
          </a:xfrm>
          <a:prstGeom prst="roundRect">
            <a:avLst/>
          </a:prstGeom>
          <a:solidFill>
            <a:srgbClr val="0C1F4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3500"/>
              </a:spcBef>
              <a:defRPr sz="2800" b="1">
                <a:solidFill>
                  <a:srgbClr val="38BDF8"/>
                </a:solidFill>
              </a:defRPr>
            </a:pPr>
            <a:r>
              <a:t>¿PREGUNTAS O COMENTARIOS?</a:t>
            </a:r>
          </a:p>
          <a:p>
            <a:pPr algn="ctr">
              <a:spcBef>
                <a:spcPts val="1400"/>
              </a:spcBef>
              <a:defRPr sz="1600">
                <a:solidFill>
                  <a:srgbClr val="F8FAFC"/>
                </a:solidFill>
              </a:defRPr>
            </a:pPr>
            <a:r>
              <a:t>Las nuevas funcionalidades ya se encuentran disponibles y activas en producción.</a:t>
            </a:r>
          </a:p>
          <a:p>
            <a:pPr algn="ctr">
              <a:spcBef>
                <a:spcPts val="1800"/>
              </a:spcBef>
              <a:defRPr sz="1500" b="1">
                <a:solidFill>
                  <a:srgbClr val="10B981"/>
                </a:solidFill>
              </a:defRPr>
            </a:pPr>
            <a:r>
              <a:t>🌐 Plataforma Web: https://nexus-tracker-b7a75.web.app</a:t>
            </a:r>
            <a:br/>
            <a:r>
              <a:t>🤖 Bot de Telegram: /start · /resumen · /actualizar</a:t>
            </a:r>
          </a:p>
          <a:p>
            <a:pPr algn="ctr">
              <a:spcBef>
                <a:spcPts val="2200"/>
              </a:spcBef>
              <a:defRPr sz="1200">
                <a:solidFill>
                  <a:srgbClr val="94A3B8"/>
                </a:solidFill>
              </a:defRPr>
            </a:pPr>
            <a:r>
              <a:t>Gracias por su compromiso con la excelencia operativa · Experis Chile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